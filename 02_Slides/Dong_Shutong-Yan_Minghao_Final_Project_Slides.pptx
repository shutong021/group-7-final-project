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5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2"/>
        <p:guide pos="38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Measuring AI Patent Enforceability with Large Language Models: Evidence from Recentive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29915" y="4176985"/>
            <a:ext cx="9799200" cy="1472400"/>
          </a:xfrm>
        </p:spPr>
        <p:txBody>
          <a:bodyPr>
            <a:normAutofit/>
          </a:bodyPr>
          <a:p>
            <a:pPr>
              <a:lnSpc>
                <a:spcPct val="100000"/>
              </a:lnSpc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Shutong Dong, &amp; Minghao Yan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May 2026</a:t>
            </a:r>
            <a:r>
              <a:rPr lang="en-US" altLang="zh-CN" sz="1800" u="heavy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zh-CN" sz="1800" u="heavy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Research Question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Does the Recentive decision lead banks to reprice and restructure syndicated loan contracts for firms with greater pre-existing exposure to vulnerable applied ML patents?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Do banks respond more strongly when vulnerable AI patents are more likely to matter as collateral, such as for firms with prior patent pledging activity, low tangible assets, or near-term refinancing needs?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Institutional Setting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eligiblility of patent claim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- 35 U.S.C. Section 101 defines patent eligible subject matter as </a:t>
            </a:r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any new and useful process, machine, manufacture, or composition of matter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3232" y="3477895"/>
            <a:ext cx="3657600" cy="1874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477895"/>
            <a:ext cx="73152" cy="1874520"/>
          </a:xfrm>
          <a:prstGeom prst="rect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3642487"/>
            <a:ext cx="3291840" cy="3200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Alice framework </a:t>
            </a:r>
            <a:endParaRPr lang="en-US" sz="140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Alice Corp. v. CLS Bank Int'l, 2014)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1832" y="4044823"/>
            <a:ext cx="3291840" cy="11887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endParaRPr lang="en-US" sz="1240" dirty="0">
              <a:solidFill>
                <a:srgbClr val="5B637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Step 1: Is the claim directed to a patent-ineligible abstract idea?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Step 2: Is there an inventive concept that transforms the claim into eligible subject matter?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205472" y="3477895"/>
            <a:ext cx="3819600" cy="1874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3477895"/>
            <a:ext cx="73152" cy="1874520"/>
          </a:xfrm>
          <a:prstGeom prst="rect">
            <a:avLst/>
          </a:prstGeom>
          <a:solidFill>
            <a:srgbClr val="A23B3B"/>
          </a:solidFill>
          <a:ln w="12700">
            <a:solidFill>
              <a:srgbClr val="A2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3642487"/>
            <a:ext cx="3886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Recentive boundary </a:t>
            </a:r>
            <a:endParaRPr lang="en-US" sz="140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Recentive. In Aon Re, Inc. v. Zesty.AI, Inc., 2025)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88352" y="4044823"/>
            <a:ext cx="3886200" cy="11887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endParaRPr lang="en-US" sz="1240" dirty="0">
              <a:solidFill>
                <a:srgbClr val="5B637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The decision holds vulnerable claims ineligible when they </a:t>
            </a:r>
            <a:endParaRPr lang="en-US" sz="1200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do no more than apply generic ML to a new data </a:t>
            </a:r>
            <a:endParaRPr lang="en-US" sz="1200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environment, without improving the ML model itself.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53712" y="4392295"/>
            <a:ext cx="2423160" cy="0"/>
          </a:xfrm>
          <a:prstGeom prst="line">
            <a:avLst/>
          </a:prstGeom>
          <a:noFill/>
          <a:ln w="19050">
            <a:solidFill>
              <a:srgbClr val="C9A25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663440" y="4090543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5D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within-AI legal boundary</a:t>
            </a:r>
            <a:endParaRPr lang="en-US" sz="1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Literature Review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Patents as collaterals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SzPct val="100000"/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dirty="0">
                <a:solidFill>
                  <a:srgbClr val="22222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Patents support debt when lenders can identify, value, enforce, and transfer the underlying rights (Mann, 2018; Hochberg et al., 2018). Patent invalidation reduces leverage, suggesting that legal strength is priced in debt markets (Horsch et al., 2021).</a:t>
            </a:r>
            <a:endParaRPr lang="en-US" dirty="0">
              <a:solidFill>
                <a:srgbClr val="22222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buSzPct val="100000"/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IP protection decline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SzPct val="100000"/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dirty="0">
                <a:solidFill>
                  <a:srgbClr val="22222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IP protection is weakened, firms adjust protection strategies, including greater secrecy and NDA use (Acikalin et al., 2022).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SzPct val="100000"/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AI and economic consequences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SzPct val="100000"/>
              <a:buNone/>
            </a:pPr>
            <a:r>
              <a:rPr lang="en-US" dirty="0">
                <a:solidFill>
                  <a:srgbClr val="22222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 Previous studies mainly study growth, labor, innovation, and equity valuation rather than bank loan contract design (Babina et al., 2024; Kogan et al., 2023; Eisfeldt &amp; Schubert, 2025). This study adds legal enforceability and pledgeability of AI knowledge as a financing channel.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Hypothesis Developments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H1 (Price Channel)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 Following Recentive, firms with higher pre-period Recentive Vulnerability Scores face higher all-in drawn spreads on newly originated syndicated loans.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H2 (Collateral-Package and Control-Rights Reconfiguration)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 Higher exposure to Recentive- vulnerable claims leads to tighter non-price loan terms, including more stringent collateral requirements, stronger IP-specific reporting, negative pledges, IP-transfer restrictions, shorter maturities, smaller facilities, and tighter covenants.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H3 (Asset-Form Substitution)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 Firms with greater exposure to vulnerable applied-ML patent claims are expected to exhibit partial substitution from patent-form protection toward secrecy-form protection.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Data for Main Analysis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4"/>
          <p:cNvSpPr/>
          <p:nvPr/>
        </p:nvSpPr>
        <p:spPr>
          <a:xfrm>
            <a:off x="777367" y="1664208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B1F3A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The empirical dataset links AI patent text, firm financials, disclosures, and syndicated loan contracts.</a:t>
            </a:r>
            <a:endParaRPr lang="en-US" sz="1820" b="1" dirty="0">
              <a:solidFill>
                <a:srgbClr val="0B1F3A"/>
              </a:solidFill>
              <a:latin typeface="Times New Roman" panose="02020603050405020304" charset="0"/>
              <a:ea typeface="Georgia" panose="02040502050405020303" pitchFamily="34" charset="-122"/>
              <a:cs typeface="Times New Roman" panose="02020603050405020304" charset="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841375" y="2377440"/>
            <a:ext cx="233172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24" name="Shape 6"/>
          <p:cNvSpPr/>
          <p:nvPr/>
        </p:nvSpPr>
        <p:spPr>
          <a:xfrm>
            <a:off x="841375" y="2377440"/>
            <a:ext cx="73152" cy="1828800"/>
          </a:xfrm>
          <a:prstGeom prst="rect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25" name="Text 7"/>
          <p:cNvSpPr/>
          <p:nvPr/>
        </p:nvSpPr>
        <p:spPr>
          <a:xfrm>
            <a:off x="1069975" y="2542032"/>
            <a:ext cx="1965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AI patent data</a:t>
            </a:r>
            <a:endParaRPr lang="en-US" sz="145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069975" y="2944368"/>
            <a:ext cx="1965960" cy="11430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PatentsView utility patents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USPTO AIPD 2023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CPC G06N and keyword supplements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3246247" y="3291840"/>
            <a:ext cx="292608" cy="0"/>
          </a:xfrm>
          <a:prstGeom prst="line">
            <a:avLst/>
          </a:prstGeom>
          <a:noFill/>
          <a:ln w="11430">
            <a:solidFill>
              <a:srgbClr val="5B6370"/>
            </a:solidFill>
            <a:prstDash val="solid"/>
            <a:tailEnd type="triangle"/>
          </a:ln>
        </p:spPr>
      </p:sp>
      <p:sp>
        <p:nvSpPr>
          <p:cNvPr id="33" name="Shape 10"/>
          <p:cNvSpPr/>
          <p:nvPr/>
        </p:nvSpPr>
        <p:spPr>
          <a:xfrm>
            <a:off x="3630295" y="2377440"/>
            <a:ext cx="233172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34" name="Shape 11"/>
          <p:cNvSpPr/>
          <p:nvPr/>
        </p:nvSpPr>
        <p:spPr>
          <a:xfrm>
            <a:off x="3630295" y="2377440"/>
            <a:ext cx="73152" cy="1828800"/>
          </a:xfrm>
          <a:prstGeom prst="rect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35" name="Text 12"/>
          <p:cNvSpPr/>
          <p:nvPr/>
        </p:nvSpPr>
        <p:spPr>
          <a:xfrm>
            <a:off x="3858895" y="2542032"/>
            <a:ext cx="1965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Firm linkages</a:t>
            </a:r>
            <a:endParaRPr lang="en-US" sz="145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3858895" y="2944368"/>
            <a:ext cx="1965960" cy="11430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Patent assignment records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KPSS patent–PERMNO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WRDS CCM to GVKEY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6035167" y="3291840"/>
            <a:ext cx="292608" cy="0"/>
          </a:xfrm>
          <a:prstGeom prst="line">
            <a:avLst/>
          </a:prstGeom>
          <a:noFill/>
          <a:ln w="11430">
            <a:solidFill>
              <a:srgbClr val="5B6370"/>
            </a:solidFill>
            <a:prstDash val="solid"/>
            <a:tailEnd type="triangle"/>
          </a:ln>
        </p:spPr>
      </p:sp>
      <p:sp>
        <p:nvSpPr>
          <p:cNvPr id="38" name="Shape 15"/>
          <p:cNvSpPr/>
          <p:nvPr/>
        </p:nvSpPr>
        <p:spPr>
          <a:xfrm>
            <a:off x="6419215" y="2377440"/>
            <a:ext cx="233172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39" name="Shape 16"/>
          <p:cNvSpPr/>
          <p:nvPr/>
        </p:nvSpPr>
        <p:spPr>
          <a:xfrm>
            <a:off x="6419215" y="2377440"/>
            <a:ext cx="73152" cy="1828800"/>
          </a:xfrm>
          <a:prstGeom prst="rect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40" name="Text 17"/>
          <p:cNvSpPr/>
          <p:nvPr/>
        </p:nvSpPr>
        <p:spPr>
          <a:xfrm>
            <a:off x="6647815" y="2542032"/>
            <a:ext cx="1965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Loan contracts</a:t>
            </a:r>
            <a:endParaRPr lang="en-US" sz="145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6647815" y="2944368"/>
            <a:ext cx="1965960" cy="11430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DealScan facilities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2018Q1–2026Q1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SEC Exhibit 10 credit agreements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8824087" y="3291840"/>
            <a:ext cx="292608" cy="0"/>
          </a:xfrm>
          <a:prstGeom prst="line">
            <a:avLst/>
          </a:prstGeom>
          <a:noFill/>
          <a:ln w="11430">
            <a:solidFill>
              <a:srgbClr val="5B6370"/>
            </a:solidFill>
            <a:prstDash val="solid"/>
            <a:tailEnd type="triangle"/>
          </a:ln>
        </p:spPr>
      </p:sp>
      <p:sp>
        <p:nvSpPr>
          <p:cNvPr id="43" name="Shape 20"/>
          <p:cNvSpPr/>
          <p:nvPr/>
        </p:nvSpPr>
        <p:spPr>
          <a:xfrm>
            <a:off x="9208135" y="2377440"/>
            <a:ext cx="233172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44" name="Shape 21"/>
          <p:cNvSpPr/>
          <p:nvPr/>
        </p:nvSpPr>
        <p:spPr>
          <a:xfrm>
            <a:off x="9208135" y="2377440"/>
            <a:ext cx="73152" cy="1828800"/>
          </a:xfrm>
          <a:prstGeom prst="rect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45" name="Text 22"/>
          <p:cNvSpPr/>
          <p:nvPr/>
        </p:nvSpPr>
        <p:spPr>
          <a:xfrm>
            <a:off x="9436735" y="2542032"/>
            <a:ext cx="1965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Financials &amp; disclosure</a:t>
            </a:r>
            <a:endParaRPr lang="en-US" sz="145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9436735" y="2944368"/>
            <a:ext cx="1965960" cy="11430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Compustat controls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CRSP event-study returns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4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10-K secrecy markers via LLM</a:t>
            </a:r>
            <a:endParaRPr lang="en-US" sz="12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1161415" y="4983480"/>
            <a:ext cx="10058400" cy="960120"/>
          </a:xfrm>
          <a:prstGeom prst="roundRect">
            <a:avLst/>
          </a:prstGeom>
          <a:solidFill>
            <a:srgbClr val="E6EEF4"/>
          </a:solidFill>
          <a:ln w="8890">
            <a:solidFill>
              <a:srgbClr val="E6EEF4"/>
            </a:solidFill>
            <a:prstDash val="solid"/>
          </a:ln>
        </p:spPr>
      </p:sp>
      <p:sp>
        <p:nvSpPr>
          <p:cNvPr id="48" name="Text 25"/>
          <p:cNvSpPr/>
          <p:nvPr/>
        </p:nvSpPr>
        <p:spPr>
          <a:xfrm>
            <a:off x="1508887" y="521208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45A7C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Primary sample</a:t>
            </a:r>
            <a:endParaRPr lang="en-US" sz="1130" b="1" dirty="0">
              <a:solidFill>
                <a:srgbClr val="245A7C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2898775" y="519379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U.S. public AI-patenting firms with at least three AI patents granted before 2025Q1 and at least one DealScan facility in the sample window.</a:t>
            </a:r>
            <a:endParaRPr lang="en-US" sz="1130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2075815" y="6144768"/>
            <a:ext cx="81381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</p:sp>
      <p:sp>
        <p:nvSpPr>
          <p:cNvPr id="51" name="Text 28"/>
          <p:cNvSpPr/>
          <p:nvPr/>
        </p:nvSpPr>
        <p:spPr>
          <a:xfrm>
            <a:off x="2395855" y="6300216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Identification focuses within the AI-patenting universe; non-AI firms serve as external placebo observations.</a:t>
            </a:r>
            <a:endParaRPr lang="en-US" sz="1050" b="1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Measuring Vulnerability Through AI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After collection of patent information, v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  <a:sym typeface="+mn-ea"/>
              </a:rPr>
              <a:t>ulnerability score is constructed through the textual analysis of AI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  <a:p>
            <a:endParaRPr lang="en-US" sz="14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  <a:p>
            <a:endParaRPr lang="en-US" sz="14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zh-CN" sz="14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zh-CN" sz="14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zh-CN" sz="14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Shape 3"/>
          <p:cNvSpPr/>
          <p:nvPr/>
        </p:nvSpPr>
        <p:spPr>
          <a:xfrm>
            <a:off x="852805" y="2423160"/>
            <a:ext cx="2926080" cy="73152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4" name="Text 4"/>
          <p:cNvSpPr/>
          <p:nvPr/>
        </p:nvSpPr>
        <p:spPr>
          <a:xfrm>
            <a:off x="1035685" y="2542032"/>
            <a:ext cx="25603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Primary input</a:t>
            </a:r>
            <a:endParaRPr lang="en-US" sz="1000" b="1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1035685" y="2761488"/>
            <a:ext cx="2560320" cy="21945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Independent claims</a:t>
            </a:r>
            <a:endParaRPr lang="en-US" sz="15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852805" y="3383280"/>
            <a:ext cx="2926080" cy="73152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7" name="Text 7"/>
          <p:cNvSpPr/>
          <p:nvPr/>
        </p:nvSpPr>
        <p:spPr>
          <a:xfrm>
            <a:off x="1035685" y="3502152"/>
            <a:ext cx="25603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Supplemental context</a:t>
            </a:r>
            <a:endParaRPr lang="en-US" sz="1000" b="1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8" name="Text 8"/>
          <p:cNvSpPr/>
          <p:nvPr/>
        </p:nvSpPr>
        <p:spPr>
          <a:xfrm>
            <a:off x="1035685" y="3721608"/>
            <a:ext cx="2560320" cy="21945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Abstract</a:t>
            </a:r>
            <a:endParaRPr lang="en-US" sz="15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852805" y="4343400"/>
            <a:ext cx="2926080" cy="841248"/>
          </a:xfrm>
          <a:prstGeom prst="roundRect">
            <a:avLst>
              <a:gd name="adj" fmla="val 3261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30" name="Text 10"/>
          <p:cNvSpPr/>
          <p:nvPr/>
        </p:nvSpPr>
        <p:spPr>
          <a:xfrm>
            <a:off x="1035685" y="4462272"/>
            <a:ext cx="25603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Robustness input</a:t>
            </a:r>
            <a:endParaRPr lang="en-US" sz="1000" b="1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1035685" y="4681728"/>
            <a:ext cx="25603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Technical-improvement passages</a:t>
            </a:r>
            <a:endParaRPr lang="en-US" sz="14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961765" y="3749040"/>
            <a:ext cx="731520" cy="0"/>
          </a:xfrm>
          <a:prstGeom prst="line">
            <a:avLst/>
          </a:prstGeom>
          <a:noFill/>
          <a:ln w="16510">
            <a:solidFill>
              <a:srgbClr val="315F9F"/>
            </a:solidFill>
            <a:prstDash val="solid"/>
            <a:headEnd type="none"/>
            <a:tailEnd type="triangle"/>
          </a:ln>
        </p:spPr>
      </p:sp>
      <p:sp>
        <p:nvSpPr>
          <p:cNvPr id="33" name="Shape 13"/>
          <p:cNvSpPr/>
          <p:nvPr/>
        </p:nvSpPr>
        <p:spPr>
          <a:xfrm>
            <a:off x="4876165" y="2423160"/>
            <a:ext cx="2651760" cy="2761488"/>
          </a:xfrm>
          <a:prstGeom prst="roundRect">
            <a:avLst>
              <a:gd name="adj" fmla="val 1034"/>
            </a:avLst>
          </a:prstGeom>
          <a:solidFill>
            <a:srgbClr val="EAF1FB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34" name="Text 14"/>
          <p:cNvSpPr/>
          <p:nvPr/>
        </p:nvSpPr>
        <p:spPr>
          <a:xfrm>
            <a:off x="5150485" y="2743200"/>
            <a:ext cx="2103120" cy="3657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5F9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DeepSeek-Chat / DeepSeek-R1</a:t>
            </a:r>
            <a:endParaRPr lang="en-US" sz="1500" b="1" dirty="0">
              <a:solidFill>
                <a:srgbClr val="315F9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150485" y="3337560"/>
            <a:ext cx="2148840" cy="11430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Prompt asks for:</a:t>
            </a:r>
            <a:endParaRPr lang="en-US" sz="11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• score from 0.00 to 1.00</a:t>
            </a:r>
            <a:endParaRPr lang="en-US" sz="11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• confidence rating</a:t>
            </a:r>
            <a:endParaRPr lang="en-US" sz="11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• one-sentence legal justification</a:t>
            </a:r>
            <a:endParaRPr lang="en-US" sz="11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• quoted claim language</a:t>
            </a:r>
            <a:endParaRPr lang="en-US" sz="11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7710805" y="3749040"/>
            <a:ext cx="731520" cy="0"/>
          </a:xfrm>
          <a:prstGeom prst="line">
            <a:avLst/>
          </a:prstGeom>
          <a:noFill/>
          <a:ln w="16510">
            <a:solidFill>
              <a:srgbClr val="315F9F"/>
            </a:solidFill>
            <a:prstDash val="solid"/>
            <a:headEnd type="none"/>
            <a:tailEnd type="triangle"/>
          </a:ln>
        </p:spPr>
      </p:sp>
      <p:sp>
        <p:nvSpPr>
          <p:cNvPr id="37" name="Shape 17"/>
          <p:cNvSpPr/>
          <p:nvPr/>
        </p:nvSpPr>
        <p:spPr>
          <a:xfrm>
            <a:off x="8625205" y="2240280"/>
            <a:ext cx="2788920" cy="30632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15F9F"/>
            </a:solidFill>
            <a:prstDash val="solid"/>
          </a:ln>
        </p:spPr>
      </p:sp>
      <p:sp>
        <p:nvSpPr>
          <p:cNvPr id="38" name="Text 18"/>
          <p:cNvSpPr/>
          <p:nvPr/>
        </p:nvSpPr>
        <p:spPr>
          <a:xfrm>
            <a:off x="8899525" y="2523744"/>
            <a:ext cx="224028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Recentive Vulnerability Score</a:t>
            </a:r>
            <a:endParaRPr lang="en-US" sz="160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8808085" y="3886200"/>
            <a:ext cx="640080" cy="5943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0.00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technical ML improvement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9786493" y="3886200"/>
            <a:ext cx="566928" cy="5943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8872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0.50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B8872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mixed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0527157" y="3886200"/>
            <a:ext cx="713232" cy="5943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4A48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1.00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B94A48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applied-only ML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08330" y="5543550"/>
            <a:ext cx="1085215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Human validation: a stratified sample of 300 AI patent claims is hand-coded on the same 0–1 vulnerability scale to benchmark the LLM classifier.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Measuring Vulnerability Through AI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 You are a patent attorney applying the Federal Circuit's two-step Alice test as articulated in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Recentive Analytics, Inc. v. Fox Corp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 Read the patent material below and output a score from 0.00 to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1.00 reflecting the degree to which this claim resembles Recentive-vulnerable applied-only ML claim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language. Anchors: 0.00 = the claim recites a clear technological improvement to the machine learning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model itself (a new architecture, loss function, training procedure, or representation); 0.50 = mixed or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ambiguous; 1.00 = the claim recites only the application of established machine learning techniques to a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new data environment, business problem, or domain, without disclosing a technological improvement to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model. Provide the score, a confidence rating, and a one-sentence justification quoting the specific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claim language that drove the decision.”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Measuring Vulnerability Through AI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29405"/>
          <a:stretch>
            <a:fillRect/>
          </a:stretch>
        </p:blipFill>
        <p:spPr>
          <a:xfrm>
            <a:off x="4064635" y="2010410"/>
            <a:ext cx="3915410" cy="11595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4825" y="386651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  <a:sym typeface="+mn-ea"/>
              </a:rPr>
              <a:t>Pᵢᴬᴵ = firm i’s stock of AI patents granted before 2025Q1.</a:t>
            </a:r>
            <a:endParaRPr lang="en-US" altLang="en-US" sz="1200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5340985"/>
            <a:ext cx="2331720" cy="804672"/>
          </a:xfrm>
          <a:prstGeom prst="roundRect">
            <a:avLst>
              <a:gd name="adj" fmla="val 3409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5478145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Citation-weighted mean</a:t>
            </a:r>
            <a:endParaRPr lang="en-US" sz="115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6696" y="5743321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weights measured before Apr. 18, 2025</a:t>
            </a:r>
            <a:endParaRPr lang="en-US" sz="950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0" y="5340985"/>
            <a:ext cx="2331720" cy="804672"/>
          </a:xfrm>
          <a:prstGeom prst="roundRect">
            <a:avLst>
              <a:gd name="adj" fmla="val 3409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5478145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Top-quartile exposure</a:t>
            </a:r>
            <a:endParaRPr lang="en-US" sz="115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85616" y="5743321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high-treatment indicator</a:t>
            </a:r>
            <a:endParaRPr lang="en-US" sz="950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46520" y="5340985"/>
            <a:ext cx="2331720" cy="804672"/>
          </a:xfrm>
          <a:prstGeom prst="roundRect">
            <a:avLst>
              <a:gd name="adj" fmla="val 3409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4536" y="5478145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Predicted vulnerable stock</a:t>
            </a:r>
            <a:endParaRPr lang="en-US" sz="115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74536" y="5743321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count-based exposure</a:t>
            </a:r>
            <a:endParaRPr lang="en-US" sz="950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35440" y="5340985"/>
            <a:ext cx="2331720" cy="804672"/>
          </a:xfrm>
          <a:prstGeom prst="roundRect">
            <a:avLst>
              <a:gd name="adj" fmla="val 3409"/>
            </a:avLst>
          </a:prstGeom>
          <a:solidFill>
            <a:srgbClr val="F4F6F8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3456" y="5478145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8233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Vulnerable stock / assets</a:t>
            </a:r>
            <a:endParaRPr lang="en-US" sz="1150" b="1" dirty="0">
              <a:solidFill>
                <a:srgbClr val="18233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63456" y="5743321"/>
            <a:ext cx="20574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scaled by firm balance sheet</a:t>
            </a:r>
            <a:endParaRPr lang="en-US" sz="950" dirty="0">
              <a:solidFill>
                <a:srgbClr val="4B5563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9480" y="4625975"/>
            <a:ext cx="543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Alternative measurements as robustness tests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Baseline Estimation Model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25065" y="2160905"/>
            <a:ext cx="7341870" cy="3538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Heterogeneity tests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97405" y="2526030"/>
            <a:ext cx="8155305" cy="2464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Subsample test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92120" y="2607310"/>
            <a:ext cx="6200775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Robustness tests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204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Event-study diagnostics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Estimate quarterly leads and lags from 2022 Q1 to 2026 Q1.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diagnostic: no systematic pre-trends before the April 18, 2025 decision.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Special attention to 2024 Q4–2025 Q1 because oral argument occurred on October 1, 2024, creating possible anticipation.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Donut specifications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Exclude loans originated within 30 days of the decision date.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Repeat using a 60-day exclusion window.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Purpose: avoid classifying loans negotiated before Recentive but signed shortly after as post-shock responses.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Conservative post-period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Redefine Post = 1 only for loans originated in 2025 Q3 or later.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This allows time for banks to update legal-risk assessments and renegotiate contract terms.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Results should remain directionally consistent under this stricter timing definition.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Robustness tests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685800" y="1325880"/>
            <a:ext cx="2788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Within-AI placebo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Replace Vulnerability with core-machine-learning share.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Prediction: null effect.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Interpretation: Recentive should affect applied-only ML claims more than patents claiming genuine model improvements.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3657600" y="1325880"/>
            <a:ext cx="2788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Non-AI and non-U.S. placebos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Use non-AI software-patent share × Post.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Use European or Chinese AI-patent share × Post.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Prediction: null effects, helping rule out general software shocks and global AI sentiment shocks.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6"/>
          <p:cNvSpPr/>
          <p:nvPr/>
        </p:nvSpPr>
        <p:spPr>
          <a:xfrm>
            <a:off x="6629400" y="1325880"/>
            <a:ext cx="2331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Fake event dates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Re-estimate using placebo event dates in 2023 Q2 and 2024 Q2.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Prediction: no treatment effect around these artificial dates.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Purpose: test whether results are driven by pre-existing trends.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7"/>
          <p:cNvSpPr/>
          <p:nvPr/>
        </p:nvSpPr>
        <p:spPr>
          <a:xfrm>
            <a:off x="9144000" y="1325880"/>
            <a:ext cx="2331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rtlCol="0" anchor="ctr"/>
          <a:lstStyle/>
          <a:p>
            <a:pPr algn="ctr"/>
            <a:r>
              <a:rPr sz="1500" b="1">
                <a:solidFill>
                  <a:srgbClr val="416996"/>
                </a:solidFill>
                <a:latin typeface="Times New Roman" panose="02020603050405020304" charset="0"/>
                <a:cs typeface="Times New Roman" panose="02020603050405020304" charset="0"/>
              </a:rPr>
              <a:t>IV robustness</a:t>
            </a:r>
            <a:endParaRPr sz="1500" b="1">
              <a:solidFill>
                <a:srgbClr val="4169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Instrument firm vulnerability using leave-one-out examiner leniency toward generic/applied-only ML claims within art unit × year.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Reported as robustness, not primary identification, because the exclusion restriction is potentially contestable.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Preliminary Results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64080" y="2154555"/>
            <a:ext cx="7856855" cy="27057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Preliminary Results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77770" y="1898015"/>
            <a:ext cx="7329805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Preliminary Results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39695" y="1948180"/>
            <a:ext cx="6905625" cy="3495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Preliminary Results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7390" y="1943100"/>
            <a:ext cx="8237855" cy="34080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b="1" dirty="0">
                <a:solidFill>
                  <a:srgbClr val="0B1F3A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  <a:sym typeface="+mn-ea"/>
              </a:rPr>
              <a:t>Contributions and Takeaways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Text 4"/>
          <p:cNvSpPr/>
          <p:nvPr/>
        </p:nvSpPr>
        <p:spPr>
          <a:xfrm>
            <a:off x="1417447" y="137109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Recentive turns AI patent enforceability into an observable financing variable.</a:t>
            </a:r>
            <a:endParaRPr lang="en-US" sz="2000" b="1" dirty="0">
              <a:solidFill>
                <a:srgbClr val="0B1F3A"/>
              </a:solidFill>
              <a:latin typeface="Times New Roman" panose="02020603050405020304" charset="0"/>
              <a:ea typeface="Georgia" panose="02040502050405020303" pitchFamily="34" charset="-122"/>
              <a:cs typeface="Times New Roman" panose="02020603050405020304" charset="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960120" y="1892808"/>
            <a:ext cx="420624" cy="420624"/>
          </a:xfrm>
          <a:prstGeom prst="ellipse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27" name="Text 6"/>
          <p:cNvSpPr/>
          <p:nvPr/>
        </p:nvSpPr>
        <p:spPr>
          <a:xfrm>
            <a:off x="1078992" y="2002536"/>
            <a:ext cx="182880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1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600200" y="1874520"/>
            <a:ext cx="402336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Within-AI legal shock</a:t>
            </a:r>
            <a:endParaRPr lang="en-US" sz="140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600200" y="2194560"/>
            <a:ext cx="941832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Uses the applied-ML versus model-improvement boundary rather than a broad software-patent shock.</a:t>
            </a:r>
            <a:endParaRPr lang="en-US" sz="1120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960120" y="2743200"/>
            <a:ext cx="420624" cy="420624"/>
          </a:xfrm>
          <a:prstGeom prst="ellipse">
            <a:avLst/>
          </a:prstGeom>
          <a:solidFill>
            <a:srgbClr val="C9A25D"/>
          </a:solidFill>
          <a:ln w="12700">
            <a:solidFill>
              <a:srgbClr val="C9A25D"/>
            </a:solidFill>
            <a:prstDash val="solid"/>
          </a:ln>
        </p:spPr>
      </p:sp>
      <p:sp>
        <p:nvSpPr>
          <p:cNvPr id="31" name="Text 10"/>
          <p:cNvSpPr/>
          <p:nvPr/>
        </p:nvSpPr>
        <p:spPr>
          <a:xfrm>
            <a:off x="1078992" y="2852928"/>
            <a:ext cx="182880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2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1600200" y="2724912"/>
            <a:ext cx="402336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AI-based empirical measurement</a:t>
            </a:r>
            <a:endParaRPr lang="en-US" sz="140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1600200" y="3044952"/>
            <a:ext cx="941832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Transforms legal doctrine into a scalable LLM-derived vulnerability score over patent claims.</a:t>
            </a:r>
            <a:endParaRPr lang="en-US" sz="1120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960120" y="3593592"/>
            <a:ext cx="420624" cy="420624"/>
          </a:xfrm>
          <a:prstGeom prst="ellipse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35" name="Text 14"/>
          <p:cNvSpPr/>
          <p:nvPr/>
        </p:nvSpPr>
        <p:spPr>
          <a:xfrm>
            <a:off x="1078992" y="3703320"/>
            <a:ext cx="182880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3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1600200" y="3575304"/>
            <a:ext cx="402336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Debt contract architecture</a:t>
            </a:r>
            <a:endParaRPr lang="en-US" sz="140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1600200" y="3895344"/>
            <a:ext cx="941832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Studies spreads jointly with covenants, collateral, maturity, facility size, and monitoring rights.</a:t>
            </a:r>
            <a:endParaRPr lang="en-US" sz="1120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960120" y="4443984"/>
            <a:ext cx="420624" cy="420624"/>
          </a:xfrm>
          <a:prstGeom prst="ellipse">
            <a:avLst/>
          </a:prstGeom>
          <a:solidFill>
            <a:srgbClr val="245A7C"/>
          </a:solidFill>
          <a:ln w="12700">
            <a:solidFill>
              <a:srgbClr val="245A7C"/>
            </a:solidFill>
            <a:prstDash val="solid"/>
          </a:ln>
        </p:spPr>
      </p:sp>
      <p:sp>
        <p:nvSpPr>
          <p:cNvPr id="39" name="Text 18"/>
          <p:cNvSpPr/>
          <p:nvPr/>
        </p:nvSpPr>
        <p:spPr>
          <a:xfrm>
            <a:off x="1078992" y="4553712"/>
            <a:ext cx="182880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4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1600200" y="4425696"/>
            <a:ext cx="402336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Asset-form channel</a:t>
            </a:r>
            <a:endParaRPr lang="en-US" sz="1400" b="1" dirty="0">
              <a:solidFill>
                <a:srgbClr val="0B1F3A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600200" y="4745736"/>
            <a:ext cx="941832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70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Shows how AI knowledge may move from patent-form collateral toward secrecy-form protection.</a:t>
            </a:r>
            <a:endParaRPr lang="en-US" sz="1120" dirty="0">
              <a:solidFill>
                <a:srgbClr val="5B6370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  <p:sp>
        <p:nvSpPr>
          <p:cNvPr id="42" name="Shape 21"/>
          <p:cNvSpPr/>
          <p:nvPr/>
        </p:nvSpPr>
        <p:spPr>
          <a:xfrm>
            <a:off x="1097280" y="5623560"/>
            <a:ext cx="9966960" cy="594360"/>
          </a:xfrm>
          <a:prstGeom prst="roundRect">
            <a:avLst/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</p:sp>
      <p:sp>
        <p:nvSpPr>
          <p:cNvPr id="43" name="Text 22"/>
          <p:cNvSpPr/>
          <p:nvPr/>
        </p:nvSpPr>
        <p:spPr>
          <a:xfrm>
            <a:off x="1417320" y="5806440"/>
            <a:ext cx="9418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charset="0"/>
                <a:ea typeface="Aptos" pitchFamily="34" charset="-122"/>
                <a:cs typeface="Times New Roman" panose="02020603050405020304" charset="0"/>
              </a:rPr>
              <a:t>Main takeaway: AI affects corporate finance not only through productivity or valuation, but through the legal pledgeability of AI knowledge.</a:t>
            </a:r>
            <a:endParaRPr lang="en-US" sz="1150" b="1" dirty="0">
              <a:solidFill>
                <a:srgbClr val="FFFFFF"/>
              </a:solidFill>
              <a:latin typeface="Times New Roman" panose="02020603050405020304" charset="0"/>
              <a:ea typeface="Aptos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7776</Words>
  <Application>WPS 演示</Application>
  <PresentationFormat>宽屏</PresentationFormat>
  <Paragraphs>241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Times New Roman</vt:lpstr>
      <vt:lpstr>Aptos</vt:lpstr>
      <vt:lpstr>Segoe UI</vt:lpstr>
      <vt:lpstr>Aptos</vt:lpstr>
      <vt:lpstr>Aptos</vt:lpstr>
      <vt:lpstr>Georgia</vt:lpstr>
      <vt:lpstr>Aptos</vt:lpstr>
      <vt:lpstr>微软雅黑</vt:lpstr>
      <vt:lpstr>Arial Unicode MS</vt:lpstr>
      <vt:lpstr>Calibri</vt:lpstr>
      <vt:lpstr>Georgia</vt:lpstr>
      <vt:lpstr>WPS</vt:lpstr>
      <vt:lpstr>Measuring AI Patent Enforceability with Large Language Models: Evidence from Recentive</vt:lpstr>
      <vt:lpstr>Research Question</vt:lpstr>
      <vt:lpstr>Institutional Setting</vt:lpstr>
      <vt:lpstr>Literature Review</vt:lpstr>
      <vt:lpstr>Hypothesis Developments</vt:lpstr>
      <vt:lpstr>Data for Main Analysis</vt:lpstr>
      <vt:lpstr>Measuring Vulnerability Through AI</vt:lpstr>
      <vt:lpstr>Measuring Vulnerability Through AI</vt:lpstr>
      <vt:lpstr>Measuring Vulnerability Through AI</vt:lpstr>
      <vt:lpstr>Baseline Estimation Model</vt:lpstr>
      <vt:lpstr>Heterogeneity tests</vt:lpstr>
      <vt:lpstr>Subsample test</vt:lpstr>
      <vt:lpstr>Robustness tests</vt:lpstr>
      <vt:lpstr>Robustness tests</vt:lpstr>
      <vt:lpstr>Preliminary Results</vt:lpstr>
      <vt:lpstr>Preliminary Results</vt:lpstr>
      <vt:lpstr>Preliminary Results</vt:lpstr>
      <vt:lpstr>Preliminary Results</vt:lpstr>
      <vt:lpstr>Contributions and Takeaways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Julia Dong</cp:lastModifiedBy>
  <cp:revision>159</cp:revision>
  <dcterms:created xsi:type="dcterms:W3CDTF">2019-06-19T02:08:00Z</dcterms:created>
  <dcterms:modified xsi:type="dcterms:W3CDTF">2026-05-10T15:51:06Z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8A715B2F5E9348458733A6FF7EFE5D38_11</vt:lpwstr>
  </property>
</Properties>
</file>